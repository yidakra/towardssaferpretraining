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8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28108-8FE5-04E7-A588-64A57997A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72639-4DE7-9F86-6BA1-F423868BE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641A0-6133-A9A5-A4E6-54423A946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A524F-55AE-2FE6-A097-8CCE2A25A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9B804-82B1-C8C5-362A-655CFA1F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88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7669-5030-5C2E-6483-9970D607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7364B-C9B0-7661-56E0-A7FF82256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F2E3E-0EE5-5AB3-C204-5D302B5B5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0FFEC-4632-ADD4-851C-80A4D1DA3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0DCC5-A618-F42D-459B-C6085B6E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39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5D7FA-8E20-0B0D-F59C-FF20EA4C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A1C0A-DC1B-CFF7-F99E-4E97B601F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6-4506-7516-EE44-40981D4E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FC299-0844-A700-59B7-ED7490E9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19EC3-6738-4A8F-2656-CBF3A311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508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E118-4E5C-6F01-9E3C-585FC45D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3B70B-766E-CFB3-7EEA-E4BCB9D8A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0366E-2F88-ABFE-DA00-FB61C28A0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F77DD-A104-D409-97B2-93853632F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CD2CC-26D4-EF1B-EBBB-BAC02AEA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07D9B-70FE-0658-96E5-02E20BE6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225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3ACF-7AF2-EF66-512F-508196B2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26C40-9C0D-2A91-A68F-2B2B80E16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A4A7A-C0EA-BC91-BEF7-DC4548B9C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0498F6-9094-C4F6-9CFC-A696024E9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5F22C-5BC6-7BA4-1FBF-F9C4DAD8B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2277C-E749-0D4F-033C-09CFA7522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9CA975-0230-B7A1-E38F-C20EEA0E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02254-FDC6-845F-321D-36EFC4E4B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77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514E-10DA-D4A6-10E9-CCC8AF75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656EB8-0F14-7808-8F25-D5DDA4695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D1E6F-1660-7B40-0973-FE14D7A28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24F5F-081B-76E4-0E09-826E1875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705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683F1B-96EF-CAE3-DE1C-09D2CC0B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B9AE9-82EC-4BDA-DAC8-0F19CA1A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23299-EFF9-F242-EA65-28BA5F680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34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72DD-9B4F-BD95-7872-8C5656C2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A04B9-E26F-5265-6395-4E758A748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5261C-1D7C-844E-4407-E18B45A0B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9E52D-EABE-BE3E-EF18-0A6C303C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7222C-537A-09F3-D302-CDFAD35D1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1BD1D-7678-E576-08C6-D3002EBD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79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3681-0E39-4ED2-9F09-AA701734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9A67D-C707-EC10-B389-CF9786EF6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42581-6CE6-7B18-3BAF-1D201DCD1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23307-E4C1-8C3F-E0B3-3F32C3D4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28ADF-AE62-5B44-DB41-260430F1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BB019-950F-B128-DB80-ADCEB31A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013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7A88-4489-1F7C-8DCB-7AFF3B29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DC086-9FE8-D5D4-B411-3B1BE6A94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C32D-B673-D708-9FB4-76DE66AC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BEA18-279D-B256-1406-E1BD869F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07DCC-F7F2-2944-5817-C1B96BA2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43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D931B5-B0B8-DBC6-5986-90B9F3C51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5E050-73B6-7D0E-A8C5-56459E2CE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1018F-FC32-30C5-2F4F-2793C2D4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593AC-EEA1-F76B-3520-143B28B9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3D701-7A7C-1FC3-2D7A-63EB834C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344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0FA439-E5B4-AF6D-7D0F-746FF459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497CC-75CD-3E5E-2A6D-A0F92E549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E9E68-FA13-DA9D-B38E-14A704D2D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A8E6B0-B38E-4387-8EB9-A7D8DBF9F909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A50FC-FBDE-EF28-0800-63304213E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6F1A4-3D3E-90AC-6D9F-0B6F0EADBE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14670-EA70-4C6A-8EB9-E62587C447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075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EBF6A-ED4C-ADAD-3248-795E1529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4D76E-7F2C-818A-79B4-C3600927C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Revisiting Web-Scale Harmful Content Filtering for SaferLLM Pretraining</a:t>
            </a:r>
            <a:b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Reproducibility Study of “Towards Safer Pretraining” (IJCAI 2025)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C27E13D-B309-418D-2798-1B338AE7C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sz="2000" dirty="0"/>
              <a:t>FACT-AI course project</a:t>
            </a:r>
          </a:p>
          <a:p>
            <a:pPr algn="l"/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algn="l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Authors: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Ark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Deliev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Ali Bilge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Miguel Mendes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algn="l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We evaluate the reproducibility of a taxonomy-driven framework for harmful content detection using released benchmarks and models.</a:t>
            </a:r>
          </a:p>
          <a:p>
            <a:pPr algn="l"/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algn="l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University of Amsterdam</a:t>
            </a:r>
          </a:p>
          <a:p>
            <a:pPr algn="l"/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algn="l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30-01-2026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6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46AD4-0EC7-800F-DD8F-F32546137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this paper matters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9B1623-5BB5-60A3-A4E3-1D1C070BB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5720" y="321353"/>
            <a:ext cx="7188199" cy="1653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1FEFA5-EE6F-105F-A153-1EAF95C9EDE6}"/>
              </a:ext>
            </a:extLst>
          </p:cNvPr>
          <p:cNvSpPr txBox="1"/>
          <p:nvPr/>
        </p:nvSpPr>
        <p:spPr>
          <a:xfrm>
            <a:off x="6553201" y="1889697"/>
            <a:ext cx="4822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Diagram 1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DD44A73-F15C-278D-7E02-AF445A12EB8A}"/>
              </a:ext>
            </a:extLst>
          </p:cNvPr>
          <p:cNvSpPr/>
          <p:nvPr/>
        </p:nvSpPr>
        <p:spPr>
          <a:xfrm>
            <a:off x="3772359" y="3441265"/>
            <a:ext cx="1752971" cy="7939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90E7083-11A9-1498-C153-EE35678E0663}"/>
              </a:ext>
            </a:extLst>
          </p:cNvPr>
          <p:cNvSpPr/>
          <p:nvPr/>
        </p:nvSpPr>
        <p:spPr>
          <a:xfrm>
            <a:off x="8182491" y="3441265"/>
            <a:ext cx="1752971" cy="7939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EC25CD5-7533-10A4-2C80-D0928E7CA191}"/>
              </a:ext>
            </a:extLst>
          </p:cNvPr>
          <p:cNvSpPr/>
          <p:nvPr/>
        </p:nvSpPr>
        <p:spPr>
          <a:xfrm>
            <a:off x="5977426" y="3429000"/>
            <a:ext cx="1752971" cy="7939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753DFA1-A6B0-3C54-E803-EA3C27D1093E}"/>
              </a:ext>
            </a:extLst>
          </p:cNvPr>
          <p:cNvSpPr/>
          <p:nvPr/>
        </p:nvSpPr>
        <p:spPr>
          <a:xfrm>
            <a:off x="10387560" y="3441265"/>
            <a:ext cx="1752971" cy="7939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1BB85CE-09E1-5EFD-E108-BFB494B33E51}"/>
              </a:ext>
            </a:extLst>
          </p:cNvPr>
          <p:cNvSpPr/>
          <p:nvPr/>
        </p:nvSpPr>
        <p:spPr>
          <a:xfrm>
            <a:off x="5584903" y="4945007"/>
            <a:ext cx="2538017" cy="7939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869391E-2C41-EA75-93BB-D81F14C0EF70}"/>
              </a:ext>
            </a:extLst>
          </p:cNvPr>
          <p:cNvSpPr txBox="1"/>
          <p:nvPr/>
        </p:nvSpPr>
        <p:spPr>
          <a:xfrm>
            <a:off x="4050123" y="3653140"/>
            <a:ext cx="123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Web Data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1F7B550-6B9D-2D94-7226-677E8561F2B5}"/>
              </a:ext>
            </a:extLst>
          </p:cNvPr>
          <p:cNvSpPr txBox="1"/>
          <p:nvPr/>
        </p:nvSpPr>
        <p:spPr>
          <a:xfrm>
            <a:off x="6307022" y="3641316"/>
            <a:ext cx="118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chemeClr val="bg1"/>
                </a:solidFill>
              </a:rPr>
              <a:t>Filtering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56EEB7A-98FC-09D9-BD27-D28F6DD1ECCB}"/>
              </a:ext>
            </a:extLst>
          </p:cNvPr>
          <p:cNvSpPr txBox="1"/>
          <p:nvPr/>
        </p:nvSpPr>
        <p:spPr>
          <a:xfrm>
            <a:off x="8415437" y="3641316"/>
            <a:ext cx="134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chemeClr val="bg1"/>
                </a:solidFill>
              </a:rPr>
              <a:t>Pretraining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3B660EB-AF8E-40D0-F2E6-2310E36048FA}"/>
              </a:ext>
            </a:extLst>
          </p:cNvPr>
          <p:cNvSpPr txBox="1"/>
          <p:nvPr/>
        </p:nvSpPr>
        <p:spPr>
          <a:xfrm>
            <a:off x="10459834" y="3653140"/>
            <a:ext cx="173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chemeClr val="bg1"/>
                </a:solidFill>
              </a:rPr>
              <a:t>Deployed</a:t>
            </a:r>
            <a:r>
              <a:rPr lang="pt-PT" dirty="0"/>
              <a:t> </a:t>
            </a:r>
            <a:r>
              <a:rPr lang="pt-PT" b="1" dirty="0">
                <a:solidFill>
                  <a:schemeClr val="bg1"/>
                </a:solidFill>
              </a:rPr>
              <a:t>LLM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EE31829-E092-FA22-58AD-2063BDA663C3}"/>
              </a:ext>
            </a:extLst>
          </p:cNvPr>
          <p:cNvSpPr txBox="1"/>
          <p:nvPr/>
        </p:nvSpPr>
        <p:spPr>
          <a:xfrm>
            <a:off x="5723069" y="5180617"/>
            <a:ext cx="235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chemeClr val="bg1"/>
                </a:solidFill>
              </a:rPr>
              <a:t>Harmful</a:t>
            </a:r>
            <a:r>
              <a:rPr lang="pt-PT" b="1" dirty="0">
                <a:solidFill>
                  <a:schemeClr val="bg1"/>
                </a:solidFill>
              </a:rPr>
              <a:t> </a:t>
            </a:r>
            <a:r>
              <a:rPr lang="pt-PT" b="1" dirty="0" err="1">
                <a:solidFill>
                  <a:srgbClr val="FFC000"/>
                </a:solidFill>
              </a:rPr>
              <a:t>content</a:t>
            </a:r>
            <a:r>
              <a:rPr lang="pt-PT" b="1" dirty="0">
                <a:solidFill>
                  <a:schemeClr val="bg1"/>
                </a:solidFill>
              </a:rPr>
              <a:t> </a:t>
            </a:r>
            <a:r>
              <a:rPr lang="pt-PT" b="1" dirty="0" err="1">
                <a:solidFill>
                  <a:schemeClr val="bg1"/>
                </a:solidFill>
              </a:rPr>
              <a:t>risk</a:t>
            </a:r>
            <a:endParaRPr lang="pt-PT" b="1" dirty="0">
              <a:solidFill>
                <a:schemeClr val="bg1"/>
              </a:solidFill>
            </a:endParaRPr>
          </a:p>
        </p:txBody>
      </p: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C6F0A6E8-7A25-243C-1237-C59A2A0C49BE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5525330" y="3825984"/>
            <a:ext cx="452096" cy="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xão reta unidirecional 19">
            <a:extLst>
              <a:ext uri="{FF2B5EF4-FFF2-40B4-BE49-F238E27FC236}">
                <a16:creationId xmlns:a16="http://schemas.microsoft.com/office/drawing/2014/main" id="{478F60A5-1D76-3A4D-AAC1-80D07417B6E6}"/>
              </a:ext>
            </a:extLst>
          </p:cNvPr>
          <p:cNvCxnSpPr>
            <a:stCxn id="7" idx="3"/>
            <a:endCxn id="4" idx="1"/>
          </p:cNvCxnSpPr>
          <p:nvPr/>
        </p:nvCxnSpPr>
        <p:spPr>
          <a:xfrm>
            <a:off x="7730397" y="3825984"/>
            <a:ext cx="452094" cy="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EB1BF847-8C91-A5B0-5333-11937F568943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9935462" y="3838249"/>
            <a:ext cx="452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D57075B9-BD84-0269-6B12-17E532D893DA}"/>
              </a:ext>
            </a:extLst>
          </p:cNvPr>
          <p:cNvCxnSpPr>
            <a:stCxn id="9" idx="0"/>
            <a:endCxn id="7" idx="2"/>
          </p:cNvCxnSpPr>
          <p:nvPr/>
        </p:nvCxnSpPr>
        <p:spPr>
          <a:xfrm flipV="1">
            <a:off x="6853912" y="4222967"/>
            <a:ext cx="0" cy="722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06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4062-ACE2-FC5C-916D-6A769AB14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Claims made in the original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15ED3-D0AA-6FE2-81F2-3FBE67217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Fazer </a:t>
            </a:r>
            <a:r>
              <a:rPr lang="en-GB" dirty="0" err="1"/>
              <a:t>uma</a:t>
            </a:r>
            <a:r>
              <a:rPr lang="en-GB" dirty="0"/>
              <a:t> caixinha para </a:t>
            </a:r>
            <a:r>
              <a:rPr lang="en-GB" dirty="0" err="1"/>
              <a:t>cada</a:t>
            </a:r>
            <a:r>
              <a:rPr lang="en-GB" dirty="0"/>
              <a:t> claim:</a:t>
            </a:r>
          </a:p>
          <a:p>
            <a:pPr marL="0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Claim 1: TTP works well on TTP-Eval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Claim 2: </a:t>
            </a:r>
            <a:r>
              <a:rPr lang="en-GB" dirty="0" err="1"/>
              <a:t>HarmFormer</a:t>
            </a:r>
            <a:r>
              <a:rPr lang="en-GB" dirty="0"/>
              <a:t> strong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TTP beats baselines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HAVOC shows ~26.7% </a:t>
            </a:r>
            <a:r>
              <a:rPr lang="en-GB" dirty="0" err="1"/>
              <a:t>leakege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48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2D9711-55A9-79EF-C1E7-5A400CE2C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Reproduction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7DBD81-EED0-CB67-6640-020804194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531418"/>
            <a:ext cx="7188199" cy="3791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73447E-4312-4228-4D80-CA0911414D7D}"/>
              </a:ext>
            </a:extLst>
          </p:cNvPr>
          <p:cNvSpPr txBox="1"/>
          <p:nvPr/>
        </p:nvSpPr>
        <p:spPr>
          <a:xfrm>
            <a:off x="6901543" y="881743"/>
            <a:ext cx="3363685" cy="37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Diagram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2D6AB-BEE2-6F85-FB75-A2FC8019A90D}"/>
              </a:ext>
            </a:extLst>
          </p:cNvPr>
          <p:cNvSpPr txBox="1"/>
          <p:nvPr/>
        </p:nvSpPr>
        <p:spPr>
          <a:xfrm>
            <a:off x="2188028" y="5627914"/>
            <a:ext cx="10003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Este </a:t>
            </a:r>
            <a:r>
              <a:rPr lang="en-GB" sz="1600" dirty="0" err="1"/>
              <a:t>texto</a:t>
            </a:r>
            <a:r>
              <a:rPr lang="en-GB" sz="1600" dirty="0"/>
              <a:t> </a:t>
            </a:r>
            <a:r>
              <a:rPr lang="en-GB" sz="1600" dirty="0" err="1"/>
              <a:t>não</a:t>
            </a:r>
            <a:r>
              <a:rPr lang="en-GB" sz="1600" dirty="0"/>
              <a:t> é para </a:t>
            </a:r>
            <a:r>
              <a:rPr lang="en-GB" sz="1600" dirty="0" err="1"/>
              <a:t>estar</a:t>
            </a:r>
            <a:r>
              <a:rPr lang="en-GB" sz="1600" dirty="0"/>
              <a:t> </a:t>
            </a:r>
            <a:r>
              <a:rPr lang="en-GB" sz="1600" dirty="0" err="1"/>
              <a:t>na</a:t>
            </a:r>
            <a:r>
              <a:rPr lang="en-GB" sz="1600" dirty="0"/>
              <a:t> </a:t>
            </a:r>
            <a:r>
              <a:rPr lang="en-GB" sz="1600" dirty="0" err="1"/>
              <a:t>apresentacao</a:t>
            </a:r>
            <a:r>
              <a:rPr lang="en-GB" sz="1600" dirty="0"/>
              <a:t> é so para </a:t>
            </a:r>
            <a:r>
              <a:rPr lang="en-GB" sz="1600" dirty="0" err="1"/>
              <a:t>tu</a:t>
            </a:r>
            <a:r>
              <a:rPr lang="en-GB" sz="1600" dirty="0"/>
              <a:t> </a:t>
            </a:r>
            <a:r>
              <a:rPr lang="en-GB" sz="1600" dirty="0" err="1"/>
              <a:t>perceberes</a:t>
            </a:r>
            <a:r>
              <a:rPr lang="en-GB" sz="1600" dirty="0"/>
              <a:t> o </a:t>
            </a:r>
            <a:r>
              <a:rPr lang="en-GB" sz="1600" dirty="0" err="1"/>
              <a:t>diagrama</a:t>
            </a:r>
            <a:r>
              <a:rPr lang="en-GB" sz="1600" dirty="0"/>
              <a:t> </a:t>
            </a:r>
            <a:r>
              <a:rPr lang="en-GB" sz="1600" dirty="0" err="1"/>
              <a:t>que</a:t>
            </a:r>
            <a:r>
              <a:rPr lang="en-GB" sz="1600" dirty="0"/>
              <a:t> </a:t>
            </a:r>
            <a:r>
              <a:rPr lang="en-GB" sz="1600" dirty="0" err="1"/>
              <a:t>vai</a:t>
            </a:r>
            <a:r>
              <a:rPr lang="en-GB" sz="1600" dirty="0"/>
              <a:t> </a:t>
            </a:r>
            <a:r>
              <a:rPr lang="en-GB" sz="1600" dirty="0" err="1"/>
              <a:t>estar</a:t>
            </a:r>
            <a:r>
              <a:rPr lang="en-GB" sz="1600" dirty="0"/>
              <a:t> </a:t>
            </a:r>
            <a:r>
              <a:rPr lang="en-GB" sz="1600" dirty="0" err="1"/>
              <a:t>na</a:t>
            </a:r>
            <a:r>
              <a:rPr lang="en-GB" sz="1600" dirty="0"/>
              <a:t> </a:t>
            </a:r>
            <a:r>
              <a:rPr lang="en-GB" sz="1600" dirty="0" err="1"/>
              <a:t>apresentacao</a:t>
            </a:r>
            <a:r>
              <a:rPr lang="en-GB" sz="1600" dirty="0"/>
              <a:t>: </a:t>
            </a:r>
          </a:p>
          <a:p>
            <a:r>
              <a:rPr lang="en-GB" sz="1600" dirty="0"/>
              <a:t>Este </a:t>
            </a:r>
            <a:r>
              <a:rPr lang="en-GB" sz="1600" dirty="0" err="1"/>
              <a:t>diagrama</a:t>
            </a:r>
            <a:r>
              <a:rPr lang="en-GB" sz="1600" dirty="0"/>
              <a:t> serve para </a:t>
            </a:r>
            <a:r>
              <a:rPr lang="en-GB" sz="1600" dirty="0" err="1"/>
              <a:t>explicar</a:t>
            </a:r>
            <a:r>
              <a:rPr lang="en-GB" sz="1600" dirty="0"/>
              <a:t> quais </a:t>
            </a:r>
            <a:r>
              <a:rPr lang="en-GB" sz="1600" dirty="0" err="1"/>
              <a:t>foram</a:t>
            </a:r>
            <a:r>
              <a:rPr lang="en-GB" sz="1600" dirty="0"/>
              <a:t> </a:t>
            </a:r>
            <a:r>
              <a:rPr lang="en-GB" sz="1600" dirty="0" err="1"/>
              <a:t>os</a:t>
            </a:r>
            <a:r>
              <a:rPr lang="en-GB" sz="1600" dirty="0"/>
              <a:t> datasets </a:t>
            </a:r>
            <a:r>
              <a:rPr lang="en-GB" sz="1600" dirty="0" err="1"/>
              <a:t>que</a:t>
            </a:r>
            <a:r>
              <a:rPr lang="en-GB" sz="1600" dirty="0"/>
              <a:t> </a:t>
            </a:r>
            <a:r>
              <a:rPr lang="en-GB" sz="1600" dirty="0" err="1"/>
              <a:t>nos</a:t>
            </a:r>
            <a:r>
              <a:rPr lang="en-GB" sz="1600" dirty="0"/>
              <a:t> </a:t>
            </a:r>
            <a:r>
              <a:rPr lang="en-GB" sz="1600" dirty="0" err="1"/>
              <a:t>utilizamos</a:t>
            </a:r>
            <a:r>
              <a:rPr lang="en-GB" sz="1600" dirty="0"/>
              <a:t> e quais </a:t>
            </a:r>
            <a:r>
              <a:rPr lang="en-GB" sz="1600" dirty="0" err="1"/>
              <a:t>modelos</a:t>
            </a:r>
            <a:r>
              <a:rPr lang="en-GB" sz="1600" dirty="0"/>
              <a:t>/tools </a:t>
            </a:r>
            <a:r>
              <a:rPr lang="en-GB" sz="1600" dirty="0" err="1"/>
              <a:t>nos</a:t>
            </a:r>
            <a:r>
              <a:rPr lang="en-GB" sz="1600" dirty="0"/>
              <a:t> </a:t>
            </a:r>
            <a:r>
              <a:rPr lang="en-GB" sz="1600" dirty="0" err="1"/>
              <a:t>corremos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cada</a:t>
            </a:r>
            <a:r>
              <a:rPr lang="en-GB" sz="1600" dirty="0"/>
              <a:t> dataset. </a:t>
            </a:r>
          </a:p>
        </p:txBody>
      </p:sp>
    </p:spTree>
    <p:extLst>
      <p:ext uri="{BB962C8B-B14F-4D97-AF65-F5344CB8AC3E}">
        <p14:creationId xmlns:p14="http://schemas.microsoft.com/office/powerpoint/2010/main" val="209879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57D8-CA07-2CFB-6750-B98DB3DB9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Result 1: TTP on TTP-Eval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14A3D-C40F-55B5-6A16-240616987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1040"/>
            <a:ext cx="6842760" cy="652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Eu </a:t>
            </a:r>
            <a:r>
              <a:rPr lang="en-GB" sz="2000" dirty="0" err="1"/>
              <a:t>quero</a:t>
            </a:r>
            <a:r>
              <a:rPr lang="en-GB" sz="2000" dirty="0"/>
              <a:t> </a:t>
            </a:r>
            <a:r>
              <a:rPr lang="en-GB" sz="2000" dirty="0" err="1"/>
              <a:t>fazer</a:t>
            </a:r>
            <a:r>
              <a:rPr lang="en-GB" sz="2000" dirty="0"/>
              <a:t> um precision-recall bar chart, </a:t>
            </a:r>
            <a:r>
              <a:rPr lang="en-GB" sz="2000" dirty="0" err="1"/>
              <a:t>onde</a:t>
            </a:r>
            <a:r>
              <a:rPr lang="en-GB" sz="2000" dirty="0"/>
              <a:t>: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E10BF-60C9-2CE6-F6A1-974C9B614737}"/>
              </a:ext>
            </a:extLst>
          </p:cNvPr>
          <p:cNvSpPr txBox="1"/>
          <p:nvPr/>
        </p:nvSpPr>
        <p:spPr>
          <a:xfrm>
            <a:off x="838200" y="3045504"/>
            <a:ext cx="44470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Original paper (TTP on TTP-Eval)</a:t>
            </a:r>
          </a:p>
          <a:p>
            <a:r>
              <a:rPr lang="en-GB" sz="2000" b="1" dirty="0"/>
              <a:t>Precision:</a:t>
            </a:r>
            <a:r>
              <a:rPr lang="en-GB" sz="2000" dirty="0"/>
              <a:t> 0.87</a:t>
            </a:r>
          </a:p>
          <a:p>
            <a:r>
              <a:rPr lang="en-GB" sz="2000" b="1" dirty="0"/>
              <a:t>Recall:</a:t>
            </a:r>
            <a:r>
              <a:rPr lang="en-GB" sz="2000" dirty="0"/>
              <a:t> 0.79</a:t>
            </a:r>
          </a:p>
          <a:p>
            <a:r>
              <a:rPr lang="en-GB" sz="2000" b="1" dirty="0"/>
              <a:t>F1:</a:t>
            </a:r>
            <a:r>
              <a:rPr lang="en-GB" sz="2000" dirty="0"/>
              <a:t> 0.83</a:t>
            </a:r>
          </a:p>
          <a:p>
            <a:endParaRPr lang="en-GB" sz="2000" dirty="0"/>
          </a:p>
          <a:p>
            <a:r>
              <a:rPr lang="en-GB" sz="2000" b="1" dirty="0"/>
              <a:t>Our reproduction</a:t>
            </a:r>
          </a:p>
          <a:p>
            <a:r>
              <a:rPr lang="en-GB" sz="2000" b="1" dirty="0"/>
              <a:t>Precision:</a:t>
            </a:r>
            <a:r>
              <a:rPr lang="en-GB" sz="2000" dirty="0"/>
              <a:t> 0.92</a:t>
            </a:r>
          </a:p>
          <a:p>
            <a:r>
              <a:rPr lang="en-GB" sz="2000" b="1" dirty="0"/>
              <a:t>Recall:</a:t>
            </a:r>
            <a:r>
              <a:rPr lang="en-GB" sz="2000" dirty="0"/>
              <a:t> 0.46</a:t>
            </a:r>
          </a:p>
          <a:p>
            <a:r>
              <a:rPr lang="en-GB" sz="2000" b="1" dirty="0"/>
              <a:t>F1:</a:t>
            </a:r>
            <a:r>
              <a:rPr lang="en-GB" sz="2000" dirty="0"/>
              <a:t> 0.62</a:t>
            </a:r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D1E1D6-E21E-19AB-47D7-A73A50399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39385"/>
            <a:ext cx="5596128" cy="35869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94FFD6-A095-FFE0-8EEC-55D484199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376" y="618716"/>
            <a:ext cx="3587752" cy="24267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EB49F0-93E8-45B7-00A1-5C62D9F789D5}"/>
              </a:ext>
            </a:extLst>
          </p:cNvPr>
          <p:cNvSpPr txBox="1"/>
          <p:nvPr/>
        </p:nvSpPr>
        <p:spPr>
          <a:xfrm>
            <a:off x="8718676" y="182245"/>
            <a:ext cx="2359152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Diagram 3 example</a:t>
            </a:r>
          </a:p>
        </p:txBody>
      </p:sp>
    </p:spTree>
    <p:extLst>
      <p:ext uri="{BB962C8B-B14F-4D97-AF65-F5344CB8AC3E}">
        <p14:creationId xmlns:p14="http://schemas.microsoft.com/office/powerpoint/2010/main" val="122135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7D16D-A15E-100E-E41C-80BDF0547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Result 2: </a:t>
            </a:r>
            <a:r>
              <a:rPr lang="en-GB" dirty="0" err="1"/>
              <a:t>HarmFormer</a:t>
            </a:r>
            <a:r>
              <a:rPr lang="en-GB" dirty="0"/>
              <a:t> vs 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61938-B35A-F882-5546-1EE3FC055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Diagram 4: F1 comparison between </a:t>
            </a:r>
            <a:r>
              <a:rPr lang="en-GB" dirty="0" err="1"/>
              <a:t>HarmFormer</a:t>
            </a:r>
            <a:r>
              <a:rPr lang="en-GB" dirty="0"/>
              <a:t> and TTP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A7E7E2-E321-C2C3-2285-7D8F2F41B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764" y="2664331"/>
            <a:ext cx="6791770" cy="267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80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B6B0-1FD7-27F9-DDD7-4D430F52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Key Result 3: HAVOC (Successfully Reproduced)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AFA82-BDA9-944C-21DB-043D3476B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866118"/>
          </a:xfrm>
        </p:spPr>
        <p:txBody>
          <a:bodyPr/>
          <a:lstStyle/>
          <a:p>
            <a:pPr marL="0" indent="0">
              <a:buNone/>
            </a:pPr>
            <a:r>
              <a:rPr lang="en-GB" sz="2000" b="1" dirty="0"/>
              <a:t>Model-averaged leakage (%)</a:t>
            </a:r>
          </a:p>
          <a:p>
            <a:r>
              <a:rPr lang="en-GB" sz="2000" b="1" dirty="0"/>
              <a:t>Neutral:</a:t>
            </a:r>
            <a:r>
              <a:rPr lang="en-GB" sz="2000" dirty="0"/>
              <a:t> 9.64%</a:t>
            </a:r>
          </a:p>
          <a:p>
            <a:r>
              <a:rPr lang="en-GB" sz="2000" b="1" dirty="0"/>
              <a:t>Passive:</a:t>
            </a:r>
            <a:r>
              <a:rPr lang="en-GB" sz="2000" dirty="0"/>
              <a:t> 12.32%</a:t>
            </a:r>
          </a:p>
          <a:p>
            <a:r>
              <a:rPr lang="en-GB" sz="2000" b="1" dirty="0"/>
              <a:t>Provocative:</a:t>
            </a:r>
            <a:r>
              <a:rPr lang="en-GB" sz="2000" dirty="0"/>
              <a:t> 75.93%</a:t>
            </a:r>
          </a:p>
          <a:p>
            <a:r>
              <a:rPr lang="en-GB" sz="2000" b="1" dirty="0"/>
              <a:t>Overall:</a:t>
            </a:r>
            <a:r>
              <a:rPr lang="en-GB" sz="2000" dirty="0"/>
              <a:t> 26.69%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1A407-AF01-298F-440C-FFE032B7A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9" y="3932619"/>
            <a:ext cx="7075714" cy="25886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3A7D8C-2D9C-D8A7-C0E4-7BA08ACBD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991" y="2351460"/>
            <a:ext cx="3389582" cy="14462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940FED-B62E-D0B9-C3A6-AB9D6D7BF34E}"/>
              </a:ext>
            </a:extLst>
          </p:cNvPr>
          <p:cNvSpPr txBox="1"/>
          <p:nvPr/>
        </p:nvSpPr>
        <p:spPr>
          <a:xfrm>
            <a:off x="8980715" y="2328761"/>
            <a:ext cx="2721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Diagram 5 example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774B55-C7B4-FD03-24EE-E04E931D0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309" y="2766810"/>
            <a:ext cx="4192977" cy="32511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07D59C-D402-FDF6-7AF3-F757B22DBC74}"/>
              </a:ext>
            </a:extLst>
          </p:cNvPr>
          <p:cNvSpPr txBox="1"/>
          <p:nvPr/>
        </p:nvSpPr>
        <p:spPr>
          <a:xfrm>
            <a:off x="8022771" y="6086669"/>
            <a:ext cx="4027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Eu </a:t>
            </a:r>
            <a:r>
              <a:rPr lang="en-GB" dirty="0" err="1"/>
              <a:t>adicionei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linha</a:t>
            </a:r>
            <a:r>
              <a:rPr lang="en-GB" dirty="0"/>
              <a:t> no 26.7% para </a:t>
            </a:r>
            <a:r>
              <a:rPr lang="en-GB" dirty="0" err="1"/>
              <a:t>representar</a:t>
            </a:r>
            <a:r>
              <a:rPr lang="en-GB" dirty="0"/>
              <a:t> a overall </a:t>
            </a:r>
            <a:r>
              <a:rPr lang="en-GB" dirty="0" err="1"/>
              <a:t>leakege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2983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8385-E7CB-EA2D-C607-267D1E7B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Extension: Cross-Model TTP Failure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69137-98D0-EFCD-373F-9C584ADEC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60914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 err="1"/>
              <a:t>Ainda</a:t>
            </a:r>
            <a:r>
              <a:rPr lang="en-GB" dirty="0"/>
              <a:t> </a:t>
            </a:r>
            <a:r>
              <a:rPr lang="en-GB" dirty="0" err="1"/>
              <a:t>não</a:t>
            </a:r>
            <a:r>
              <a:rPr lang="en-GB" dirty="0"/>
              <a:t> sei se vale a </a:t>
            </a:r>
            <a:r>
              <a:rPr lang="en-GB" dirty="0" err="1"/>
              <a:t>pena</a:t>
            </a:r>
            <a:r>
              <a:rPr lang="en-GB" dirty="0"/>
              <a:t> </a:t>
            </a:r>
            <a:r>
              <a:rPr lang="en-GB" dirty="0" err="1"/>
              <a:t>fazer</a:t>
            </a:r>
            <a:r>
              <a:rPr lang="en-GB" dirty="0"/>
              <a:t> um </a:t>
            </a:r>
            <a:r>
              <a:rPr lang="en-GB" dirty="0" err="1"/>
              <a:t>diagrama</a:t>
            </a:r>
            <a:r>
              <a:rPr lang="en-GB" dirty="0"/>
              <a:t> </a:t>
            </a:r>
            <a:r>
              <a:rPr lang="en-GB" dirty="0" err="1"/>
              <a:t>aqui</a:t>
            </a:r>
            <a:r>
              <a:rPr lang="en-GB" dirty="0"/>
              <a:t> e se </a:t>
            </a:r>
            <a:r>
              <a:rPr lang="en-GB" dirty="0" err="1"/>
              <a:t>fizer</a:t>
            </a:r>
            <a:r>
              <a:rPr lang="en-GB" dirty="0"/>
              <a:t> nao sei qual </a:t>
            </a:r>
            <a:r>
              <a:rPr lang="en-GB" dirty="0" err="1"/>
              <a:t>diagrama</a:t>
            </a:r>
            <a:r>
              <a:rPr lang="en-GB" dirty="0"/>
              <a:t> </a:t>
            </a:r>
            <a:r>
              <a:rPr lang="en-GB" dirty="0" err="1"/>
              <a:t>vou</a:t>
            </a:r>
            <a:r>
              <a:rPr lang="en-GB" dirty="0"/>
              <a:t> </a:t>
            </a:r>
            <a:r>
              <a:rPr lang="en-GB" dirty="0" err="1"/>
              <a:t>fazer</a:t>
            </a:r>
            <a:r>
              <a:rPr lang="en-GB" dirty="0"/>
              <a:t>, mas se </a:t>
            </a:r>
            <a:r>
              <a:rPr lang="en-GB" dirty="0" err="1"/>
              <a:t>calhar</a:t>
            </a:r>
            <a:r>
              <a:rPr lang="en-GB" dirty="0"/>
              <a:t> </a:t>
            </a:r>
            <a:r>
              <a:rPr lang="en-GB" dirty="0" err="1"/>
              <a:t>fazer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tabela</a:t>
            </a:r>
            <a:r>
              <a:rPr lang="en-GB" dirty="0"/>
              <a:t> </a:t>
            </a:r>
            <a:r>
              <a:rPr lang="en-GB" dirty="0" err="1"/>
              <a:t>assim</a:t>
            </a:r>
            <a:r>
              <a:rPr lang="en-GB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D75E46-6EE6-14C2-373D-75DA61390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170" y="1588068"/>
            <a:ext cx="7582200" cy="2413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971B0-7AB8-4102-58F9-0B5EEAFEB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170" y="4183940"/>
            <a:ext cx="7582200" cy="20805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E7616C-5497-3470-57E4-7475B4453D47}"/>
              </a:ext>
            </a:extLst>
          </p:cNvPr>
          <p:cNvSpPr txBox="1"/>
          <p:nvPr/>
        </p:nvSpPr>
        <p:spPr>
          <a:xfrm>
            <a:off x="9938657" y="1110343"/>
            <a:ext cx="1817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Diagram 6</a:t>
            </a:r>
          </a:p>
        </p:txBody>
      </p:sp>
    </p:spTree>
    <p:extLst>
      <p:ext uri="{BB962C8B-B14F-4D97-AF65-F5344CB8AC3E}">
        <p14:creationId xmlns:p14="http://schemas.microsoft.com/office/powerpoint/2010/main" val="3044365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080E-B816-929A-49E2-8FA290AC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Reproducibility Failed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2CFE-4255-1D7D-4FA1-A5BF8DD56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Ainda</a:t>
            </a:r>
            <a:r>
              <a:rPr lang="en-GB" dirty="0"/>
              <a:t> nao sei se </a:t>
            </a:r>
            <a:r>
              <a:rPr lang="en-GB" dirty="0" err="1"/>
              <a:t>vou</a:t>
            </a:r>
            <a:r>
              <a:rPr lang="en-GB" dirty="0"/>
              <a:t> </a:t>
            </a:r>
            <a:r>
              <a:rPr lang="en-GB" dirty="0" err="1"/>
              <a:t>fazer</a:t>
            </a:r>
            <a:r>
              <a:rPr lang="en-GB" dirty="0"/>
              <a:t> um </a:t>
            </a:r>
            <a:r>
              <a:rPr lang="en-GB" dirty="0" err="1"/>
              <a:t>diagrama</a:t>
            </a:r>
            <a:r>
              <a:rPr lang="en-GB" dirty="0"/>
              <a:t> </a:t>
            </a:r>
            <a:r>
              <a:rPr lang="en-GB" dirty="0" err="1"/>
              <a:t>aqui</a:t>
            </a:r>
            <a:r>
              <a:rPr lang="en-GB" dirty="0"/>
              <a:t> ….</a:t>
            </a:r>
          </a:p>
        </p:txBody>
      </p:sp>
    </p:spTree>
    <p:extLst>
      <p:ext uri="{BB962C8B-B14F-4D97-AF65-F5344CB8AC3E}">
        <p14:creationId xmlns:p14="http://schemas.microsoft.com/office/powerpoint/2010/main" val="3731073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0DF15-310F-F2DE-94F7-B94DC772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/>
              <a:t>Environmental &amp; Practical Impact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CD696B-0FB3-EC5B-0DAF-C11B7DD11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481" y="3108608"/>
            <a:ext cx="4632960" cy="217749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85CC15-53BD-45A1-B39D-FEA51E539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7504" y="2876958"/>
            <a:ext cx="6480473" cy="26407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94FBE0-B85C-EFEF-C044-68FD01684E26}"/>
              </a:ext>
            </a:extLst>
          </p:cNvPr>
          <p:cNvSpPr txBox="1"/>
          <p:nvPr/>
        </p:nvSpPr>
        <p:spPr>
          <a:xfrm>
            <a:off x="3535595" y="2260966"/>
            <a:ext cx="687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Diagram 7 (one or the other, I think the table is better)</a:t>
            </a:r>
          </a:p>
        </p:txBody>
      </p:sp>
    </p:spTree>
    <p:extLst>
      <p:ext uri="{BB962C8B-B14F-4D97-AF65-F5344CB8AC3E}">
        <p14:creationId xmlns:p14="http://schemas.microsoft.com/office/powerpoint/2010/main" val="383238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2CDF2-785E-F3E8-364A-FD25C7ACF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1B35A-AE87-5F5D-3E31-1ADA97421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Key Conclusions</a:t>
            </a:r>
            <a:endParaRPr lang="en-GB" dirty="0"/>
          </a:p>
          <a:p>
            <a:r>
              <a:rPr lang="en-GB" dirty="0"/>
              <a:t>HAVOC is reliable and easily reproducible</a:t>
            </a:r>
          </a:p>
          <a:p>
            <a:r>
              <a:rPr lang="en-GB" dirty="0" err="1"/>
              <a:t>HarmFormer</a:t>
            </a:r>
            <a:r>
              <a:rPr lang="en-GB" dirty="0"/>
              <a:t> generalizes reasonably to human-annotated data</a:t>
            </a:r>
          </a:p>
          <a:p>
            <a:r>
              <a:rPr lang="en-GB" dirty="0"/>
              <a:t>TTP performance is </a:t>
            </a:r>
            <a:r>
              <a:rPr lang="en-GB" b="1" dirty="0"/>
              <a:t>model-dependent and fragile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Future work:</a:t>
            </a:r>
            <a:br>
              <a:rPr lang="en-GB" dirty="0"/>
            </a:br>
            <a:r>
              <a:rPr lang="en-GB" dirty="0"/>
              <a:t>Future safety tools should prioritize </a:t>
            </a:r>
            <a:r>
              <a:rPr lang="en-GB" b="1" dirty="0"/>
              <a:t>open, robust, and model-agnostic designs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6328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370</Words>
  <Application>Microsoft Office PowerPoint</Application>
  <PresentationFormat>Ecrã Panorâmico</PresentationFormat>
  <Paragraphs>68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Revisiting Web-Scale Harmful Content Filtering for SaferLLM Pretraining  A Reproducibility Study of “Towards Safer Pretraining” (IJCAI 2025)</vt:lpstr>
      <vt:lpstr>Why this paper matters</vt:lpstr>
      <vt:lpstr>Claims made in the original paper</vt:lpstr>
      <vt:lpstr>Reproduction Setup</vt:lpstr>
      <vt:lpstr>Key Result 1: TTP on TTP-Eval</vt:lpstr>
      <vt:lpstr>Key Result 2: HarmFormer vs TTP</vt:lpstr>
      <vt:lpstr>Key Result 3: HAVOC (Successfully Reproduced)</vt:lpstr>
      <vt:lpstr>Extension: Cross-Model TTP Failure </vt:lpstr>
      <vt:lpstr>Why Reproducibility Failed</vt:lpstr>
      <vt:lpstr>Environmental &amp; Practical Impact</vt:lpstr>
      <vt:lpstr>Conclusions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Mendes</dc:creator>
  <cp:lastModifiedBy>Diana Aldea Mendes</cp:lastModifiedBy>
  <cp:revision>2</cp:revision>
  <dcterms:created xsi:type="dcterms:W3CDTF">2026-01-25T02:46:23Z</dcterms:created>
  <dcterms:modified xsi:type="dcterms:W3CDTF">2026-01-25T15:29:59Z</dcterms:modified>
</cp:coreProperties>
</file>